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Specialist teacher</c:v>
                </c:pt>
              </c:strCache>
            </c:strRef>
          </c:tx>
          <c:spPr>
            <a:solidFill>
              <a:srgbClr val="8A979C"/>
            </a:solidFill>
            <a:effectLst/>
          </c:spPr>
          <c:invertIfNegative val="0"/>
          <c:dLbls>
            <c:numFmt formatCode="0.00" sourceLinked="0"/>
            <c:txPr>
              <a:bodyPr/>
              <a:lstStyle/>
              <a:p>
                <a:pPr>
                  <a:defRPr b="0" i="0" strike="noStrike" sz="1000" u="none">
                    <a:solidFill>
                      <a:srgbClr val="1F2A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Pick</c:v>
                  </c:pt>
                  <c:pt idx="1">
                    <c:v>Push</c:v>
                  </c:pt>
                </c:lvl>
              </c:multiLvlStrCache>
            </c:multiLvlStrRef>
          </c:cat>
          <c:val>
            <c:numRef>
              <c:f>Sheet1!$B$2:$B$3</c:f>
              <c:numCache>
                <c:formatCode>General</c:formatCode>
                <c:ptCount val="2"/>
                <c:pt idx="0">
                  <c:v>0.561</c:v>
                </c:pt>
                <c:pt idx="1">
                  <c:v>0.604</c:v>
                </c:pt>
              </c:numCache>
            </c:numRef>
          </c:val>
        </c:ser>
        <c:ser>
          <c:idx val="1"/>
          <c:order val="1"/>
          <c:tx>
            <c:strRef>
              <c:f>Sheet1!$C$1</c:f>
              <c:strCache>
                <c:ptCount val="1"/>
                <c:pt idx="0">
                  <c:v>Joint BC</c:v>
                </c:pt>
              </c:strCache>
            </c:strRef>
          </c:tx>
          <c:spPr>
            <a:solidFill>
              <a:srgbClr val="D9A441"/>
            </a:solidFill>
            <a:effectLst/>
          </c:spPr>
          <c:invertIfNegative val="0"/>
          <c:dLbls>
            <c:numFmt formatCode="0.00" sourceLinked="0"/>
            <c:txPr>
              <a:bodyPr/>
              <a:lstStyle/>
              <a:p>
                <a:pPr>
                  <a:defRPr b="0" i="0" strike="noStrike" sz="1000" u="none">
                    <a:solidFill>
                      <a:srgbClr val="1F2A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Pick</c:v>
                  </c:pt>
                  <c:pt idx="1">
                    <c:v>Push</c:v>
                  </c:pt>
                </c:lvl>
              </c:multiLvlStrCache>
            </c:multiLvlStrRef>
          </c:cat>
          <c:val>
            <c:numRef>
              <c:f>Sheet1!$C$2:$C$3</c:f>
              <c:numCache>
                <c:formatCode>General</c:formatCode>
                <c:ptCount val="2"/>
                <c:pt idx="0">
                  <c:v>0.844</c:v>
                </c:pt>
                <c:pt idx="1">
                  <c:v>1.112</c:v>
                </c:pt>
              </c:numCache>
            </c:numRef>
          </c:val>
        </c:ser>
        <c:ser>
          <c:idx val="2"/>
          <c:order val="2"/>
          <c:tx>
            <c:strRef>
              <c:f>Sheet1!$D$1</c:f>
              <c:strCache>
                <c:ptCount val="1"/>
                <c:pt idx="0">
                  <c:v>Output MTD</c:v>
                </c:pt>
              </c:strCache>
            </c:strRef>
          </c:tx>
          <c:spPr>
            <a:solidFill>
              <a:srgbClr val="0F6E6E"/>
            </a:solidFill>
            <a:effectLst/>
          </c:spPr>
          <c:invertIfNegative val="0"/>
          <c:dLbls>
            <c:numFmt formatCode="0.00" sourceLinked="0"/>
            <c:txPr>
              <a:bodyPr/>
              <a:lstStyle/>
              <a:p>
                <a:pPr>
                  <a:defRPr b="0" i="0" strike="noStrike" sz="1000" u="none">
                    <a:solidFill>
                      <a:srgbClr val="1F2A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Pick</c:v>
                  </c:pt>
                  <c:pt idx="1">
                    <c:v>Push</c:v>
                  </c:pt>
                </c:lvl>
              </c:multiLvlStrCache>
            </c:multiLvlStrRef>
          </c:cat>
          <c:val>
            <c:numRef>
              <c:f>Sheet1!$D$2:$D$3</c:f>
              <c:numCache>
                <c:formatCode>General</c:formatCode>
                <c:ptCount val="2"/>
                <c:pt idx="0">
                  <c:v>1.013</c:v>
                </c:pt>
                <c:pt idx="1">
                  <c:v>0.648</c:v>
                </c:pt>
              </c:numCache>
            </c:numRef>
          </c:val>
        </c:ser>
        <c:ser>
          <c:idx val="3"/>
          <c:order val="3"/>
          <c:tx>
            <c:strRef>
              <c:f>Sheet1!$E$1</c:f>
              <c:strCache>
                <c:ptCount val="1"/>
                <c:pt idx="0">
                  <c:v>Output + Repr MTD</c:v>
                </c:pt>
              </c:strCache>
            </c:strRef>
          </c:tx>
          <c:spPr>
            <a:solidFill>
              <a:srgbClr val="1D4E5F"/>
            </a:solidFill>
            <a:effectLst/>
          </c:spPr>
          <c:invertIfNegative val="0"/>
          <c:dLbls>
            <c:numFmt formatCode="0.00" sourceLinked="0"/>
            <c:txPr>
              <a:bodyPr/>
              <a:lstStyle/>
              <a:p>
                <a:pPr>
                  <a:defRPr b="0" i="0" strike="noStrike" sz="1000" u="none">
                    <a:solidFill>
                      <a:srgbClr val="1F2A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Pick</c:v>
                  </c:pt>
                  <c:pt idx="1">
                    <c:v>Push</c:v>
                  </c:pt>
                </c:lvl>
              </c:multiLvlStrCache>
            </c:multiLvlStrRef>
          </c:cat>
          <c:val>
            <c:numRef>
              <c:f>Sheet1!$E$2:$E$3</c:f>
              <c:numCache>
                <c:formatCode>General</c:formatCode>
                <c:ptCount val="2"/>
                <c:pt idx="0">
                  <c:v>0.594</c:v>
                </c:pt>
                <c:pt idx="1">
                  <c:v>0.658</c:v>
                </c:pt>
              </c:numCache>
            </c:numRef>
          </c:val>
        </c:ser>
        <c:dLbls>
          <c:numFmt formatCode="0.00" sourceLinked="0"/>
          <c:txPr>
            <a:bodyPr/>
            <a:lstStyle/>
            <a:p>
              <a:pPr>
                <a:defRPr b="0" i="0" strike="noStrike" sz="1000" u="none">
                  <a:solidFill>
                    <a:srgbClr val="1F2A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A30"/>
                </a:solidFill>
                <a:latin typeface="Calibri"/>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E6EC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0"/>
                </a:solidFill>
                <a:latin typeface="Arial"/>
              </a:defRPr>
            </a:pPr>
            <a:endParaRPr lang="en-US"/>
          </a:p>
        </c:txPr>
        <c:crossAx val="2094734554"/>
        <c:crosses val="autoZero"/>
        <c:crossBetween val="between"/>
        <c:majorUnit val="0.4"/>
      </c:valAx>
      <c:spPr>
        <a:noFill/>
        <a:ln>
          <a:noFill/>
        </a:ln>
        <a:effectLst/>
      </c:spPr>
    </c:plotArea>
    <c:legend>
      <c:legendPos val="t"/>
      <c:overlay val="0"/>
      <c:txPr>
        <a:bodyPr/>
        <a:lstStyle/>
        <a:p>
          <a:pPr>
            <a:defRPr sz="1100">
              <a:solidFill>
                <a:srgbClr val="1F2A3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specialist MLPs are trained separately on Pick and Push demonstrations and frozen. Three students of the same size learn both skills from a skill ID: plain joint behavior cloning, behavior cloning plus matching the routed teacher's action, and additionally matching the teacher's 32-D hidden layer. The noise floor is 0.0004 MSE (0.40 in slide units), so all methods are close to it. Teacher rows are tested only on their own skill, so there is no teacher average. Results are from one seed (seed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400" b="1" dirty="0">
                <a:solidFill>
                  <a:srgbClr val="1F2A30"/>
                </a:solidFill>
                <a:latin typeface="Cambria" pitchFamily="34" charset="0"/>
                <a:ea typeface="Cambria" pitchFamily="34" charset="-122"/>
                <a:cs typeface="Cambria" pitchFamily="34" charset="-120"/>
              </a:rPr>
              <a:t>Tutorial 1 · One student, two skills</a:t>
            </a:r>
            <a:endParaRPr lang="en-US" sz="34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indent="0" marL="0">
              <a:buNone/>
            </a:pPr>
            <a:r>
              <a:rPr lang="en-US" sz="1500" i="1" dirty="0">
                <a:solidFill>
                  <a:srgbClr val="5B6770"/>
                </a:solidFill>
                <a:latin typeface="Calibri" pitchFamily="34" charset="0"/>
                <a:ea typeface="Calibri" pitchFamily="34" charset="-122"/>
                <a:cs typeface="Calibri" pitchFamily="34" charset="-120"/>
              </a:rPr>
              <a:t>Multi-teacher distillation of a Pick and a Push specialist into one skill-conditioned MLP</a:t>
            </a:r>
            <a:endParaRPr lang="en-US" sz="1500" dirty="0"/>
          </a:p>
        </p:txBody>
      </p:sp>
      <p:sp>
        <p:nvSpPr>
          <p:cNvPr id="4" name="Text 2"/>
          <p:cNvSpPr txBox="1"/>
          <p:nvPr/>
        </p:nvSpPr>
        <p:spPr>
          <a:xfrm>
            <a:off x="457200" y="1554480"/>
            <a:ext cx="5212080" cy="365760"/>
          </a:xfrm>
          <a:prstGeom prst="rect">
            <a:avLst/>
          </a:prstGeom>
          <a:noFill/>
          <a:ln/>
        </p:spPr>
        <p:txBody>
          <a:bodyPr wrap="square" lIns="0" tIns="0" rIns="0" bIns="0" rtlCol="0" anchor="ctr"/>
          <a:lstStyle/>
          <a:p>
            <a:pPr indent="0" marL="0">
              <a:buNone/>
            </a:pPr>
            <a:r>
              <a:rPr lang="en-US" sz="2000" b="1" dirty="0">
                <a:solidFill>
                  <a:srgbClr val="0F6E6E"/>
                </a:solidFill>
                <a:latin typeface="Cambria" pitchFamily="34" charset="0"/>
                <a:ea typeface="Cambria" pitchFamily="34" charset="-122"/>
                <a:cs typeface="Cambria" pitchFamily="34" charset="-120"/>
              </a:rPr>
              <a:t>Setup</a:t>
            </a:r>
            <a:endParaRPr lang="en-US" sz="2000" dirty="0"/>
          </a:p>
        </p:txBody>
      </p:sp>
      <p:sp>
        <p:nvSpPr>
          <p:cNvPr id="5" name="Shape 3"/>
          <p:cNvSpPr/>
          <p:nvPr/>
        </p:nvSpPr>
        <p:spPr>
          <a:xfrm>
            <a:off x="457200" y="2011680"/>
            <a:ext cx="5212080" cy="1325880"/>
          </a:xfrm>
          <a:prstGeom prst="roundRect">
            <a:avLst>
              <a:gd name="adj" fmla="val 5517"/>
            </a:avLst>
          </a:prstGeom>
          <a:solidFill>
            <a:srgbClr val="EEF4F4"/>
          </a:solidFill>
          <a:ln w="12700">
            <a:solidFill>
              <a:srgbClr val="EEF4F4"/>
            </a:solidFill>
            <a:prstDash val="solid"/>
          </a:ln>
        </p:spPr>
      </p:sp>
      <p:sp>
        <p:nvSpPr>
          <p:cNvPr id="6" name="Text 4"/>
          <p:cNvSpPr txBox="1"/>
          <p:nvPr/>
        </p:nvSpPr>
        <p:spPr>
          <a:xfrm>
            <a:off x="640080" y="2103120"/>
            <a:ext cx="4846320" cy="1143000"/>
          </a:xfrm>
          <a:prstGeom prst="rect">
            <a:avLst/>
          </a:prstGeom>
          <a:noFill/>
          <a:ln/>
        </p:spPr>
        <p:txBody>
          <a:bodyPr wrap="square" lIns="0" tIns="0" rIns="0" bIns="0" rtlCol="0" anchor="t"/>
          <a:lstStyle/>
          <a:p>
            <a:pPr indent="0" marL="0">
              <a:spcAft>
                <a:spcPts val="400"/>
              </a:spcAft>
              <a:buNone/>
            </a:pPr>
            <a:r>
              <a:rPr lang="en-US" sz="1500" b="1" dirty="0">
                <a:solidFill>
                  <a:srgbClr val="1F2A30"/>
                </a:solidFill>
                <a:latin typeface="Calibri" pitchFamily="34" charset="0"/>
                <a:ea typeface="Calibri" pitchFamily="34" charset="-122"/>
                <a:cs typeface="Calibri" pitchFamily="34" charset="-120"/>
              </a:rPr>
              <a:t>Data (synthetic)</a:t>
            </a:r>
            <a:endParaRPr lang="en-US" sz="1500" dirty="0"/>
          </a:p>
          <a:p>
            <a:pPr marL="342900" indent="-342900">
              <a:spcAft>
                <a:spcPts val="300"/>
              </a:spcAft>
              <a:buSzPct val="100000"/>
              <a:buChar char="•"/>
            </a:pPr>
            <a:r>
              <a:rPr lang="en-US" sz="1300" dirty="0">
                <a:solidFill>
                  <a:srgbClr val="1F2A30"/>
                </a:solidFill>
                <a:latin typeface="Calibri" pitchFamily="34" charset="0"/>
                <a:ea typeface="Calibri" pitchFamily="34" charset="-122"/>
                <a:cs typeface="Calibri" pitchFamily="34" charset="-120"/>
              </a:rPr>
              <a:t>Observation (x, y) ∈ [−1, 1]²  →  2-D action</a:t>
            </a:r>
            <a:endParaRPr lang="en-US" sz="1500" dirty="0"/>
          </a:p>
          <a:p>
            <a:pPr marL="342900" indent="-342900">
              <a:spcAft>
                <a:spcPts val="300"/>
              </a:spcAft>
              <a:buSzPct val="100000"/>
              <a:buChar char="•"/>
            </a:pPr>
            <a:r>
              <a:rPr lang="en-US" sz="1300" dirty="0">
                <a:solidFill>
                  <a:srgbClr val="1F2A30"/>
                </a:solidFill>
                <a:latin typeface="Calibri" pitchFamily="34" charset="0"/>
                <a:ea typeface="Calibri" pitchFamily="34" charset="-122"/>
                <a:cs typeface="Calibri" pitchFamily="34" charset="-120"/>
              </a:rPr>
              <a:t>Pick and Push = two different nonlinear mappings</a:t>
            </a:r>
            <a:endParaRPr lang="en-US" sz="1500" dirty="0"/>
          </a:p>
          <a:p>
            <a:pPr marL="342900" indent="-342900">
              <a:spcAft>
                <a:spcPts val="300"/>
              </a:spcAft>
              <a:buSzPct val="100000"/>
              <a:buChar char="•"/>
            </a:pPr>
            <a:r>
              <a:rPr lang="en-US" sz="1300" dirty="0">
                <a:solidFill>
                  <a:srgbClr val="1F2A30"/>
                </a:solidFill>
                <a:latin typeface="Calibri" pitchFamily="34" charset="0"/>
                <a:ea typeface="Calibri" pitchFamily="34" charset="-122"/>
                <a:cs typeface="Calibri" pitchFamily="34" charset="-120"/>
              </a:rPr>
              <a:t>Label noise σ = 0.02 → best possible MSE ≈ 0.0004</a:t>
            </a:r>
            <a:endParaRPr lang="en-US" sz="1500" dirty="0"/>
          </a:p>
          <a:p>
            <a:pPr marL="342900" indent="-342900">
              <a:spcAft>
                <a:spcPts val="300"/>
              </a:spcAft>
              <a:buSzPct val="100000"/>
              <a:buChar char="•"/>
            </a:pPr>
            <a:r>
              <a:rPr lang="en-US" sz="1300" dirty="0">
                <a:solidFill>
                  <a:srgbClr val="1F2A30"/>
                </a:solidFill>
                <a:latin typeface="Calibri" pitchFamily="34" charset="0"/>
                <a:ea typeface="Calibri" pitchFamily="34" charset="-122"/>
                <a:cs typeface="Calibri" pitchFamily="34" charset="-120"/>
              </a:rPr>
              <a:t>1,024 train / 256 test samples per skill</a:t>
            </a:r>
            <a:endParaRPr lang="en-US" sz="1500" dirty="0"/>
          </a:p>
        </p:txBody>
      </p:sp>
      <p:sp>
        <p:nvSpPr>
          <p:cNvPr id="7" name="Shape 5"/>
          <p:cNvSpPr/>
          <p:nvPr/>
        </p:nvSpPr>
        <p:spPr>
          <a:xfrm>
            <a:off x="457200" y="3474720"/>
            <a:ext cx="5212080" cy="1051560"/>
          </a:xfrm>
          <a:prstGeom prst="roundRect">
            <a:avLst>
              <a:gd name="adj" fmla="val 6957"/>
            </a:avLst>
          </a:prstGeom>
          <a:solidFill>
            <a:srgbClr val="EEF4F4"/>
          </a:solidFill>
          <a:ln w="12700">
            <a:solidFill>
              <a:srgbClr val="EEF4F4"/>
            </a:solidFill>
            <a:prstDash val="solid"/>
          </a:ln>
        </p:spPr>
      </p:sp>
      <p:sp>
        <p:nvSpPr>
          <p:cNvPr id="8" name="Text 6"/>
          <p:cNvSpPr txBox="1"/>
          <p:nvPr/>
        </p:nvSpPr>
        <p:spPr>
          <a:xfrm>
            <a:off x="640080" y="3566160"/>
            <a:ext cx="4846320" cy="868680"/>
          </a:xfrm>
          <a:prstGeom prst="rect">
            <a:avLst/>
          </a:prstGeom>
          <a:noFill/>
          <a:ln/>
        </p:spPr>
        <p:txBody>
          <a:bodyPr wrap="square" lIns="0" tIns="0" rIns="0" bIns="0" rtlCol="0" anchor="t"/>
          <a:lstStyle/>
          <a:p>
            <a:pPr indent="0" marL="0">
              <a:spcAft>
                <a:spcPts val="400"/>
              </a:spcAft>
              <a:buNone/>
            </a:pPr>
            <a:r>
              <a:rPr lang="en-US" sz="1500" b="1" dirty="0">
                <a:solidFill>
                  <a:srgbClr val="1F2A30"/>
                </a:solidFill>
                <a:latin typeface="Calibri" pitchFamily="34" charset="0"/>
                <a:ea typeface="Calibri" pitchFamily="34" charset="-122"/>
                <a:cs typeface="Calibri" pitchFamily="34" charset="-120"/>
              </a:rPr>
              <a:t>Models (2 × 32 ReLU MLP)</a:t>
            </a:r>
            <a:endParaRPr lang="en-US" sz="1500" dirty="0"/>
          </a:p>
          <a:p>
            <a:pPr marL="342900" indent="-342900">
              <a:spcAft>
                <a:spcPts val="300"/>
              </a:spcAft>
              <a:buSzPct val="100000"/>
              <a:buChar char="•"/>
            </a:pPr>
            <a:r>
              <a:rPr lang="en-US" sz="1300" dirty="0">
                <a:solidFill>
                  <a:srgbClr val="1F2A30"/>
                </a:solidFill>
                <a:latin typeface="Calibri" pitchFamily="34" charset="0"/>
                <a:ea typeface="Calibri" pitchFamily="34" charset="-122"/>
                <a:cs typeface="Calibri" pitchFamily="34" charset="-120"/>
              </a:rPr>
              <a:t>Teachers: input [x, y]; trained on own skill, then frozen</a:t>
            </a:r>
            <a:endParaRPr lang="en-US" sz="1500" dirty="0"/>
          </a:p>
          <a:p>
            <a:pPr marL="342900" indent="-342900">
              <a:spcAft>
                <a:spcPts val="300"/>
              </a:spcAft>
              <a:buSzPct val="100000"/>
              <a:buChar char="•"/>
            </a:pPr>
            <a:r>
              <a:rPr lang="en-US" sz="1300" dirty="0">
                <a:solidFill>
                  <a:srgbClr val="1F2A30"/>
                </a:solidFill>
                <a:latin typeface="Calibri" pitchFamily="34" charset="0"/>
                <a:ea typeface="Calibri" pitchFamily="34" charset="-122"/>
                <a:cs typeface="Calibri" pitchFamily="34" charset="-120"/>
              </a:rPr>
              <a:t>Student: input [x, y, one-hot skill ID]</a:t>
            </a:r>
            <a:endParaRPr lang="en-US" sz="1500" dirty="0"/>
          </a:p>
          <a:p>
            <a:pPr marL="342900" indent="-342900">
              <a:spcAft>
                <a:spcPts val="300"/>
              </a:spcAft>
              <a:buSzPct val="100000"/>
              <a:buChar char="•"/>
            </a:pPr>
            <a:r>
              <a:rPr lang="en-US" sz="1300" dirty="0">
                <a:solidFill>
                  <a:srgbClr val="1F2A30"/>
                </a:solidFill>
                <a:latin typeface="Calibri" pitchFamily="34" charset="0"/>
                <a:ea typeface="Calibri" pitchFamily="34" charset="-122"/>
                <a:cs typeface="Calibri" pitchFamily="34" charset="-120"/>
              </a:rPr>
              <a:t>Each sample routed to its teacher by skill ID</a:t>
            </a:r>
            <a:endParaRPr lang="en-US" sz="1500" dirty="0"/>
          </a:p>
        </p:txBody>
      </p:sp>
      <p:sp>
        <p:nvSpPr>
          <p:cNvPr id="9" name="Shape 7"/>
          <p:cNvSpPr/>
          <p:nvPr/>
        </p:nvSpPr>
        <p:spPr>
          <a:xfrm>
            <a:off x="457200" y="4663440"/>
            <a:ext cx="5212080" cy="1554480"/>
          </a:xfrm>
          <a:prstGeom prst="roundRect">
            <a:avLst>
              <a:gd name="adj" fmla="val 4706"/>
            </a:avLst>
          </a:prstGeom>
          <a:solidFill>
            <a:srgbClr val="EEF4F4"/>
          </a:solidFill>
          <a:ln w="12700">
            <a:solidFill>
              <a:srgbClr val="EEF4F4"/>
            </a:solidFill>
            <a:prstDash val="solid"/>
          </a:ln>
        </p:spPr>
      </p:sp>
      <p:sp>
        <p:nvSpPr>
          <p:cNvPr id="10" name="Text 8"/>
          <p:cNvSpPr txBox="1"/>
          <p:nvPr/>
        </p:nvSpPr>
        <p:spPr>
          <a:xfrm>
            <a:off x="640080" y="4754880"/>
            <a:ext cx="4846320" cy="1371600"/>
          </a:xfrm>
          <a:prstGeom prst="rect">
            <a:avLst/>
          </a:prstGeom>
          <a:noFill/>
          <a:ln/>
        </p:spPr>
        <p:txBody>
          <a:bodyPr wrap="square" lIns="0" tIns="0" rIns="0" bIns="0" rtlCol="0" anchor="t"/>
          <a:lstStyle/>
          <a:p>
            <a:pPr indent="0" marL="0">
              <a:spcAft>
                <a:spcPts val="400"/>
              </a:spcAft>
              <a:buNone/>
            </a:pPr>
            <a:r>
              <a:rPr lang="en-US" sz="1500" b="1" dirty="0">
                <a:solidFill>
                  <a:srgbClr val="1F2A30"/>
                </a:solidFill>
                <a:latin typeface="Calibri" pitchFamily="34" charset="0"/>
                <a:ea typeface="Calibri" pitchFamily="34" charset="-122"/>
                <a:cs typeface="Calibri" pitchFamily="34" charset="-120"/>
              </a:rPr>
              <a:t>Student objectives</a:t>
            </a:r>
            <a:endParaRPr lang="en-US" sz="1500" dirty="0"/>
          </a:p>
          <a:p>
            <a:pPr marL="342900" indent="-342900">
              <a:spcAft>
                <a:spcPts val="300"/>
              </a:spcAft>
              <a:buSzPct val="100000"/>
              <a:buChar char="•"/>
            </a:pPr>
            <a:r>
              <a:rPr lang="en-US" sz="1300" dirty="0">
                <a:solidFill>
                  <a:srgbClr val="1F2A30"/>
                </a:solidFill>
                <a:latin typeface="Calibri" pitchFamily="34" charset="0"/>
                <a:ea typeface="Calibri" pitchFamily="34" charset="-122"/>
                <a:cs typeface="Calibri" pitchFamily="34" charset="-120"/>
              </a:rPr>
              <a:t>Joint BC:  L_BC</a:t>
            </a:r>
            <a:endParaRPr lang="en-US" sz="1500" dirty="0"/>
          </a:p>
          <a:p>
            <a:pPr marL="342900" indent="-342900">
              <a:spcAft>
                <a:spcPts val="300"/>
              </a:spcAft>
              <a:buSzPct val="100000"/>
              <a:buChar char="•"/>
            </a:pPr>
            <a:r>
              <a:rPr lang="en-US" sz="1300" dirty="0">
                <a:solidFill>
                  <a:srgbClr val="1F2A30"/>
                </a:solidFill>
                <a:latin typeface="Calibri" pitchFamily="34" charset="0"/>
                <a:ea typeface="Calibri" pitchFamily="34" charset="-122"/>
                <a:cs typeface="Calibri" pitchFamily="34" charset="-120"/>
              </a:rPr>
              <a:t>Output MTD:  L_BC + 0.5 · L_KD</a:t>
            </a:r>
            <a:endParaRPr lang="en-US" sz="1500" dirty="0"/>
          </a:p>
          <a:p>
            <a:pPr marL="342900" indent="-342900">
              <a:spcAft>
                <a:spcPts val="300"/>
              </a:spcAft>
              <a:buSzPct val="100000"/>
              <a:buChar char="•"/>
            </a:pPr>
            <a:r>
              <a:rPr lang="en-US" sz="1300" dirty="0">
                <a:solidFill>
                  <a:srgbClr val="1F2A30"/>
                </a:solidFill>
                <a:latin typeface="Calibri" pitchFamily="34" charset="0"/>
                <a:ea typeface="Calibri" pitchFamily="34" charset="-122"/>
                <a:cs typeface="Calibri" pitchFamily="34" charset="-120"/>
              </a:rPr>
              <a:t>Output + Repr MTD:  L_BC + 0.5 · L_KD + 0.1 · L_repr</a:t>
            </a:r>
            <a:endParaRPr lang="en-US" sz="1500" dirty="0"/>
          </a:p>
          <a:p>
            <a:pPr marL="342900" indent="-342900">
              <a:spcAft>
                <a:spcPts val="300"/>
              </a:spcAft>
              <a:buSzPct val="100000"/>
              <a:buChar char="•"/>
            </a:pPr>
            <a:r>
              <a:rPr lang="en-US" sz="1300" dirty="0">
                <a:solidFill>
                  <a:srgbClr val="1F2A30"/>
                </a:solidFill>
                <a:latin typeface="Calibri" pitchFamily="34" charset="0"/>
                <a:ea typeface="Calibri" pitchFamily="34" charset="-122"/>
                <a:cs typeface="Calibri" pitchFamily="34" charset="-120"/>
              </a:rPr>
              <a:t>KD = teacher action; Repr = teacher hidden layer</a:t>
            </a:r>
            <a:endParaRPr lang="en-US" sz="1500" dirty="0"/>
          </a:p>
        </p:txBody>
      </p:sp>
      <p:sp>
        <p:nvSpPr>
          <p:cNvPr id="11" name="Text 9"/>
          <p:cNvSpPr txBox="1"/>
          <p:nvPr/>
        </p:nvSpPr>
        <p:spPr>
          <a:xfrm>
            <a:off x="6126480" y="1554480"/>
            <a:ext cx="5605272" cy="365760"/>
          </a:xfrm>
          <a:prstGeom prst="rect">
            <a:avLst/>
          </a:prstGeom>
          <a:noFill/>
          <a:ln/>
        </p:spPr>
        <p:txBody>
          <a:bodyPr wrap="square" lIns="0" tIns="0" rIns="0" bIns="0" rtlCol="0" anchor="b"/>
          <a:lstStyle/>
          <a:p>
            <a:pPr indent="0" marL="0">
              <a:buNone/>
            </a:pPr>
            <a:r>
              <a:rPr lang="en-US" sz="2000" b="1" dirty="0">
                <a:solidFill>
                  <a:srgbClr val="0F6E6E"/>
                </a:solidFill>
                <a:latin typeface="Cambria" pitchFamily="34" charset="0"/>
                <a:ea typeface="Cambria" pitchFamily="34" charset="-122"/>
                <a:cs typeface="Cambria" pitchFamily="34" charset="-120"/>
              </a:rPr>
              <a:t>Results</a:t>
            </a:r>
            <a:pPr indent="0" marL="0">
              <a:buNone/>
            </a:pPr>
            <a:r>
              <a:rPr lang="en-US" sz="1300" dirty="0">
                <a:solidFill>
                  <a:srgbClr val="5B6770"/>
                </a:solidFill>
                <a:latin typeface="Calibri" pitchFamily="34" charset="0"/>
                <a:ea typeface="Calibri" pitchFamily="34" charset="-122"/>
                <a:cs typeface="Calibri" pitchFamily="34" charset="-120"/>
              </a:rPr>
              <a:t>   held-out test MSE (×10⁻³), lower is better</a:t>
            </a:r>
            <a:endParaRPr lang="en-US" sz="2000" dirty="0"/>
          </a:p>
        </p:txBody>
      </p:sp>
      <p:graphicFrame>
        <p:nvGraphicFramePr>
          <p:cNvPr id="12" name="Chart 0" descr=""/>
          <p:cNvGraphicFramePr/>
          <p:nvPr/>
        </p:nvGraphicFramePr>
        <p:xfrm>
          <a:off x="6126480" y="1965960"/>
          <a:ext cx="5605272"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126480" y="4572000"/>
          <a:ext cx="5605272" cy="914400"/>
        </p:xfrm>
        <a:graphic>
          <a:graphicData uri="http://schemas.openxmlformats.org/drawingml/2006/table">
            <a:tbl>
              <a:tblPr/>
              <a:tblGrid>
                <a:gridCol w="2496312"/>
                <a:gridCol w="1005840"/>
                <a:gridCol w="1005840"/>
                <a:gridCol w="1097280"/>
              </a:tblGrid>
              <a:tr h="24688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D4E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Pick</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D4E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Push</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D4E5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Average</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D4E5F"/>
                    </a:solidFill>
                  </a:tcPr>
                </a:tc>
              </a:tr>
              <a:tr h="246888">
                <a:tc>
                  <a:txBody>
                    <a:bodyPr/>
                    <a:lstStyle/>
                    <a:p>
                      <a:pPr algn="l" indent="0" marL="0">
                        <a:buNone/>
                      </a:pPr>
                      <a:r>
                        <a:rPr lang="en-US" sz="1200" dirty="0">
                          <a:solidFill>
                            <a:srgbClr val="1F2A30"/>
                          </a:solidFill>
                          <a:latin typeface="Calibri" pitchFamily="34" charset="0"/>
                          <a:ea typeface="Calibri" pitchFamily="34" charset="-122"/>
                          <a:cs typeface="Calibri" pitchFamily="34" charset="-120"/>
                        </a:rPr>
                        <a:t>Pick teacher (specialist)</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1F2A30"/>
                          </a:solidFill>
                          <a:latin typeface="Calibri" pitchFamily="34" charset="0"/>
                          <a:ea typeface="Calibri" pitchFamily="34" charset="-122"/>
                          <a:cs typeface="Calibri" pitchFamily="34" charset="-120"/>
                        </a:rPr>
                        <a:t>0.561</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5B677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5B677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r>
              <a:tr h="246888">
                <a:tc>
                  <a:txBody>
                    <a:bodyPr/>
                    <a:lstStyle/>
                    <a:p>
                      <a:pPr algn="l" indent="0" marL="0">
                        <a:buNone/>
                      </a:pPr>
                      <a:r>
                        <a:rPr lang="en-US" sz="1200" dirty="0">
                          <a:solidFill>
                            <a:srgbClr val="1F2A30"/>
                          </a:solidFill>
                          <a:latin typeface="Calibri" pitchFamily="34" charset="0"/>
                          <a:ea typeface="Calibri" pitchFamily="34" charset="-122"/>
                          <a:cs typeface="Calibri" pitchFamily="34" charset="-120"/>
                        </a:rPr>
                        <a:t>Push teacher (specialist)</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5B677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1F2A30"/>
                          </a:solidFill>
                          <a:latin typeface="Calibri" pitchFamily="34" charset="0"/>
                          <a:ea typeface="Calibri" pitchFamily="34" charset="-122"/>
                          <a:cs typeface="Calibri" pitchFamily="34" charset="-120"/>
                        </a:rPr>
                        <a:t>0.604</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5B677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r>
              <a:tr h="246888">
                <a:tc>
                  <a:txBody>
                    <a:bodyPr/>
                    <a:lstStyle/>
                    <a:p>
                      <a:pPr algn="l" indent="0" marL="0">
                        <a:buNone/>
                      </a:pPr>
                      <a:r>
                        <a:rPr lang="en-US" sz="1200" dirty="0">
                          <a:solidFill>
                            <a:srgbClr val="1F2A30"/>
                          </a:solidFill>
                          <a:latin typeface="Calibri" pitchFamily="34" charset="0"/>
                          <a:ea typeface="Calibri" pitchFamily="34" charset="-122"/>
                          <a:cs typeface="Calibri" pitchFamily="34" charset="-120"/>
                        </a:rPr>
                        <a:t>Joint BC</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1F2A30"/>
                          </a:solidFill>
                          <a:latin typeface="Calibri" pitchFamily="34" charset="0"/>
                          <a:ea typeface="Calibri" pitchFamily="34" charset="-122"/>
                          <a:cs typeface="Calibri" pitchFamily="34" charset="-120"/>
                        </a:rPr>
                        <a:t>0.844</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1F2A30"/>
                          </a:solidFill>
                          <a:latin typeface="Calibri" pitchFamily="34" charset="0"/>
                          <a:ea typeface="Calibri" pitchFamily="34" charset="-122"/>
                          <a:cs typeface="Calibri" pitchFamily="34" charset="-120"/>
                        </a:rPr>
                        <a:t>1.112</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1F2A30"/>
                          </a:solidFill>
                          <a:latin typeface="Calibri" pitchFamily="34" charset="0"/>
                          <a:ea typeface="Calibri" pitchFamily="34" charset="-122"/>
                          <a:cs typeface="Calibri" pitchFamily="34" charset="-120"/>
                        </a:rPr>
                        <a:t>0.978</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r>
              <a:tr h="246888">
                <a:tc>
                  <a:txBody>
                    <a:bodyPr/>
                    <a:lstStyle/>
                    <a:p>
                      <a:pPr algn="l" indent="0" marL="0">
                        <a:buNone/>
                      </a:pPr>
                      <a:r>
                        <a:rPr lang="en-US" sz="1200" dirty="0">
                          <a:solidFill>
                            <a:srgbClr val="1F2A30"/>
                          </a:solidFill>
                          <a:latin typeface="Calibri" pitchFamily="34" charset="0"/>
                          <a:ea typeface="Calibri" pitchFamily="34" charset="-122"/>
                          <a:cs typeface="Calibri" pitchFamily="34" charset="-120"/>
                        </a:rPr>
                        <a:t>Output MTD</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1F2A30"/>
                          </a:solidFill>
                          <a:latin typeface="Calibri" pitchFamily="34" charset="0"/>
                          <a:ea typeface="Calibri" pitchFamily="34" charset="-122"/>
                          <a:cs typeface="Calibri" pitchFamily="34" charset="-120"/>
                        </a:rPr>
                        <a:t>1.013</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1F2A30"/>
                          </a:solidFill>
                          <a:latin typeface="Calibri" pitchFamily="34" charset="0"/>
                          <a:ea typeface="Calibri" pitchFamily="34" charset="-122"/>
                          <a:cs typeface="Calibri" pitchFamily="34" charset="-120"/>
                        </a:rPr>
                        <a:t>0.648</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dirty="0">
                          <a:solidFill>
                            <a:srgbClr val="1F2A30"/>
                          </a:solidFill>
                          <a:latin typeface="Calibri" pitchFamily="34" charset="0"/>
                          <a:ea typeface="Calibri" pitchFamily="34" charset="-122"/>
                          <a:cs typeface="Calibri" pitchFamily="34" charset="-120"/>
                        </a:rPr>
                        <a:t>0.831</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r>
              <a:tr h="246888">
                <a:tc>
                  <a:txBody>
                    <a:bodyPr/>
                    <a:lstStyle/>
                    <a:p>
                      <a:pPr algn="l" indent="0" marL="0">
                        <a:buNone/>
                      </a:pPr>
                      <a:r>
                        <a:rPr lang="en-US" sz="1200" b="1" dirty="0">
                          <a:solidFill>
                            <a:srgbClr val="1F2A30"/>
                          </a:solidFill>
                          <a:latin typeface="Calibri" pitchFamily="34" charset="0"/>
                          <a:ea typeface="Calibri" pitchFamily="34" charset="-122"/>
                          <a:cs typeface="Calibri" pitchFamily="34" charset="-120"/>
                        </a:rPr>
                        <a:t>Output + Repr MTD</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b="1" dirty="0">
                          <a:solidFill>
                            <a:srgbClr val="1F2A30"/>
                          </a:solidFill>
                          <a:latin typeface="Calibri" pitchFamily="34" charset="0"/>
                          <a:ea typeface="Calibri" pitchFamily="34" charset="-122"/>
                          <a:cs typeface="Calibri" pitchFamily="34" charset="-120"/>
                        </a:rPr>
                        <a:t>0.594</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b="1" dirty="0">
                          <a:solidFill>
                            <a:srgbClr val="1F2A30"/>
                          </a:solidFill>
                          <a:latin typeface="Calibri" pitchFamily="34" charset="0"/>
                          <a:ea typeface="Calibri" pitchFamily="34" charset="-122"/>
                          <a:cs typeface="Calibri" pitchFamily="34" charset="-120"/>
                        </a:rPr>
                        <a:t>0.658</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c>
                  <a:txBody>
                    <a:bodyPr/>
                    <a:lstStyle/>
                    <a:p>
                      <a:pPr algn="ctr" indent="0" marL="0">
                        <a:buNone/>
                      </a:pPr>
                      <a:r>
                        <a:rPr lang="en-US" sz="1200" b="1" dirty="0">
                          <a:solidFill>
                            <a:srgbClr val="1F2A30"/>
                          </a:solidFill>
                          <a:latin typeface="Calibri" pitchFamily="34" charset="0"/>
                          <a:ea typeface="Calibri" pitchFamily="34" charset="-122"/>
                          <a:cs typeface="Calibri" pitchFamily="34" charset="-120"/>
                        </a:rPr>
                        <a:t>0.626</a:t>
                      </a:r>
                      <a:endParaRPr lang="en-US" sz="1200" dirty="0">
                        <a:latin typeface="Calibri" charset="0"/>
                        <a:ea typeface="Calibri" charset="0"/>
                        <a:cs typeface="Calibri"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tcPr>
                </a:tc>
              </a:tr>
            </a:tbl>
          </a:graphicData>
        </a:graphic>
      </p:graphicFrame>
      <p:sp>
        <p:nvSpPr>
          <p:cNvPr id="14" name="Text 10"/>
          <p:cNvSpPr txBox="1"/>
          <p:nvPr/>
        </p:nvSpPr>
        <p:spPr>
          <a:xfrm>
            <a:off x="6126480" y="6126480"/>
            <a:ext cx="5605272" cy="41148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Teacher bars: Pick teacher on Pick, Push teacher on Push (no teacher average). Single seed: ranking is suggestive.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1: Multi-Teacher Distillation</dc:title>
  <dc:subject>PptxGenJS Presentation</dc:subject>
  <dc:creator>PptxGenJS</dc:creator>
  <cp:lastModifiedBy>PptxGenJS</cp:lastModifiedBy>
  <cp:revision>1</cp:revision>
  <dcterms:created xsi:type="dcterms:W3CDTF">2026-09-30T01:41:47Z</dcterms:created>
  <dcterms:modified xsi:type="dcterms:W3CDTF">2026-09-30T01:41:47Z</dcterms:modified>
</cp:coreProperties>
</file>